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relia" charset="1" panose="00000500000000000000"/>
      <p:regular r:id="rId18"/>
    </p:embeddedFont>
    <p:embeddedFont>
      <p:font typeface="DM Sans" charset="1" panose="00000000000000000000"/>
      <p:regular r:id="rId19"/>
    </p:embeddedFont>
    <p:embeddedFont>
      <p:font typeface="DM Sans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63033" y="6195861"/>
            <a:ext cx="6914093" cy="5028432"/>
          </a:xfrm>
          <a:custGeom>
            <a:avLst/>
            <a:gdLst/>
            <a:ahLst/>
            <a:cxnLst/>
            <a:rect r="r" b="b" t="t" l="l"/>
            <a:pathLst>
              <a:path h="5028432" w="6914093">
                <a:moveTo>
                  <a:pt x="0" y="0"/>
                </a:moveTo>
                <a:lnTo>
                  <a:pt x="6914093" y="0"/>
                </a:lnTo>
                <a:lnTo>
                  <a:pt x="6914093" y="5028431"/>
                </a:lnTo>
                <a:lnTo>
                  <a:pt x="0" y="502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29971" y="4820778"/>
            <a:ext cx="10228058" cy="1710875"/>
          </a:xfrm>
          <a:custGeom>
            <a:avLst/>
            <a:gdLst/>
            <a:ahLst/>
            <a:cxnLst/>
            <a:rect r="r" b="b" t="t" l="l"/>
            <a:pathLst>
              <a:path h="1710875" w="10228058">
                <a:moveTo>
                  <a:pt x="0" y="0"/>
                </a:moveTo>
                <a:lnTo>
                  <a:pt x="10228058" y="0"/>
                </a:lnTo>
                <a:lnTo>
                  <a:pt x="10228058" y="1710876"/>
                </a:lnTo>
                <a:lnTo>
                  <a:pt x="0" y="17108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18992" y="3711419"/>
            <a:ext cx="10850017" cy="332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36"/>
              </a:lnSpc>
            </a:pPr>
            <a:r>
              <a:rPr lang="en-US" sz="1945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Project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456379" y="5404911"/>
            <a:ext cx="8246933" cy="6247677"/>
          </a:xfrm>
          <a:custGeom>
            <a:avLst/>
            <a:gdLst/>
            <a:ahLst/>
            <a:cxnLst/>
            <a:rect r="r" b="b" t="t" l="l"/>
            <a:pathLst>
              <a:path h="6247677" w="8246933">
                <a:moveTo>
                  <a:pt x="0" y="0"/>
                </a:moveTo>
                <a:lnTo>
                  <a:pt x="8246933" y="0"/>
                </a:lnTo>
                <a:lnTo>
                  <a:pt x="8246933" y="6247677"/>
                </a:lnTo>
                <a:lnTo>
                  <a:pt x="0" y="62476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08980" y="-1652824"/>
            <a:ext cx="8905028" cy="5575060"/>
          </a:xfrm>
          <a:custGeom>
            <a:avLst/>
            <a:gdLst/>
            <a:ahLst/>
            <a:cxnLst/>
            <a:rect r="r" b="b" t="t" l="l"/>
            <a:pathLst>
              <a:path h="5575060" w="8905028">
                <a:moveTo>
                  <a:pt x="0" y="0"/>
                </a:moveTo>
                <a:lnTo>
                  <a:pt x="8905029" y="0"/>
                </a:lnTo>
                <a:lnTo>
                  <a:pt x="8905029" y="5575060"/>
                </a:lnTo>
                <a:lnTo>
                  <a:pt x="0" y="5575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5846">
            <a:off x="-3929800" y="-2685694"/>
            <a:ext cx="5243739" cy="7338566"/>
          </a:xfrm>
          <a:custGeom>
            <a:avLst/>
            <a:gdLst/>
            <a:ahLst/>
            <a:cxnLst/>
            <a:rect r="r" b="b" t="t" l="l"/>
            <a:pathLst>
              <a:path h="7338566" w="5243739">
                <a:moveTo>
                  <a:pt x="0" y="0"/>
                </a:moveTo>
                <a:lnTo>
                  <a:pt x="5243739" y="0"/>
                </a:lnTo>
                <a:lnTo>
                  <a:pt x="5243739" y="7338565"/>
                </a:lnTo>
                <a:lnTo>
                  <a:pt x="0" y="7338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06302" y="2677389"/>
            <a:ext cx="8075396" cy="152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458"/>
              </a:lnSpc>
            </a:pPr>
            <a:r>
              <a:rPr lang="en-US" sz="8898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Capstone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41172" y="6974470"/>
            <a:ext cx="6639489" cy="16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72"/>
              </a:lnSpc>
            </a:pPr>
            <a:r>
              <a:rPr lang="en-US" sz="3194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Presented by: Akhil Miriyala</a:t>
            </a:r>
          </a:p>
          <a:p>
            <a:pPr algn="r">
              <a:lnSpc>
                <a:spcPts val="4472"/>
              </a:lnSpc>
            </a:pPr>
            <a:r>
              <a:rPr lang="en-US" sz="3194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                     24MBMB37</a:t>
            </a:r>
          </a:p>
          <a:p>
            <a:pPr algn="r">
              <a:lnSpc>
                <a:spcPts val="4472"/>
              </a:lnSpc>
            </a:pPr>
            <a:r>
              <a:rPr lang="en-US" sz="3194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MBA BUSINESS ANALYTICS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19534" y="952500"/>
            <a:ext cx="11249475" cy="154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8"/>
              </a:lnSpc>
            </a:pPr>
            <a:r>
              <a:rPr lang="en-US" sz="4499">
                <a:solidFill>
                  <a:srgbClr val="1787B7"/>
                </a:solidFill>
                <a:latin typeface="Carelia"/>
                <a:ea typeface="Carelia"/>
                <a:cs typeface="Carelia"/>
                <a:sym typeface="Carelia"/>
              </a:rPr>
              <a:t>A Unified Big Data and NLP Platform for Enhancing Rural Education in India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22403" y="-589740"/>
            <a:ext cx="9048214" cy="12247451"/>
            <a:chOff x="0" y="0"/>
            <a:chExt cx="2383069" cy="32256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3069" cy="3225666"/>
            </a:xfrm>
            <a:custGeom>
              <a:avLst/>
              <a:gdLst/>
              <a:ahLst/>
              <a:cxnLst/>
              <a:rect r="r" b="b" t="t" l="l"/>
              <a:pathLst>
                <a:path h="3225666" w="2383069">
                  <a:moveTo>
                    <a:pt x="0" y="0"/>
                  </a:moveTo>
                  <a:lnTo>
                    <a:pt x="2383069" y="0"/>
                  </a:lnTo>
                  <a:lnTo>
                    <a:pt x="2383069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83069" cy="3273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4622631" y="7532431"/>
            <a:ext cx="3665369" cy="2665723"/>
          </a:xfrm>
          <a:custGeom>
            <a:avLst/>
            <a:gdLst/>
            <a:ahLst/>
            <a:cxnLst/>
            <a:rect r="r" b="b" t="t" l="l"/>
            <a:pathLst>
              <a:path h="2665723" w="3665369">
                <a:moveTo>
                  <a:pt x="3665369" y="0"/>
                </a:moveTo>
                <a:lnTo>
                  <a:pt x="0" y="0"/>
                </a:lnTo>
                <a:lnTo>
                  <a:pt x="0" y="2665722"/>
                </a:lnTo>
                <a:lnTo>
                  <a:pt x="3665369" y="2665722"/>
                </a:lnTo>
                <a:lnTo>
                  <a:pt x="36653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09324" y="133970"/>
            <a:ext cx="7880408" cy="894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84"/>
              </a:lnSpc>
              <a:spcBef>
                <a:spcPct val="0"/>
              </a:spcBef>
            </a:pPr>
            <a:r>
              <a:rPr lang="en-US" sz="52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Table of Contents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06306" y="1029014"/>
            <a:ext cx="7686444" cy="894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659" indent="-367329" lvl="1">
              <a:lnSpc>
                <a:spcPts val="4763"/>
              </a:lnSpc>
              <a:buFont typeface="Arial"/>
              <a:buChar char="•"/>
            </a:pPr>
            <a:r>
              <a:rPr lang="en-US" b="true" sz="3402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Overview</a:t>
            </a:r>
          </a:p>
          <a:p>
            <a:pPr algn="l">
              <a:lnSpc>
                <a:spcPts val="4763"/>
              </a:lnSpc>
            </a:pPr>
          </a:p>
          <a:p>
            <a:pPr algn="l" marL="713069" indent="-356535" lvl="1">
              <a:lnSpc>
                <a:spcPts val="4623"/>
              </a:lnSpc>
              <a:buFont typeface="Arial"/>
              <a:buChar char="•"/>
            </a:pPr>
            <a:r>
              <a:rPr lang="en-US" b="true" sz="3302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Case 1</a:t>
            </a:r>
            <a:r>
              <a:rPr lang="en-US" sz="33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– Career Guidance Analytics</a:t>
            </a:r>
          </a:p>
          <a:p>
            <a:pPr algn="l">
              <a:lnSpc>
                <a:spcPts val="4623"/>
              </a:lnSpc>
            </a:pPr>
          </a:p>
          <a:p>
            <a:pPr algn="l" marL="734659" indent="-367329" lvl="1">
              <a:lnSpc>
                <a:spcPts val="4763"/>
              </a:lnSpc>
              <a:buFont typeface="Arial"/>
              <a:buChar char="•"/>
            </a:pPr>
            <a:r>
              <a:rPr lang="en-US" b="true" sz="3402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Case 2</a:t>
            </a:r>
            <a:r>
              <a:rPr lang="en-US" sz="34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– Dropouts Analysis</a:t>
            </a:r>
          </a:p>
          <a:p>
            <a:pPr algn="l">
              <a:lnSpc>
                <a:spcPts val="4763"/>
              </a:lnSpc>
            </a:pPr>
          </a:p>
          <a:p>
            <a:pPr algn="l" marL="734659" indent="-367329" lvl="1">
              <a:lnSpc>
                <a:spcPts val="4763"/>
              </a:lnSpc>
              <a:buFont typeface="Arial"/>
              <a:buChar char="•"/>
            </a:pPr>
            <a:r>
              <a:rPr lang="en-US" b="true" sz="3402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Case 3</a:t>
            </a:r>
            <a:r>
              <a:rPr lang="en-US" sz="34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– Scholarship Awareness</a:t>
            </a:r>
          </a:p>
          <a:p>
            <a:pPr algn="l">
              <a:lnSpc>
                <a:spcPts val="4763"/>
              </a:lnSpc>
            </a:pPr>
          </a:p>
          <a:p>
            <a:pPr algn="l" marL="734659" indent="-367329" lvl="1">
              <a:lnSpc>
                <a:spcPts val="4763"/>
              </a:lnSpc>
              <a:buFont typeface="Arial"/>
              <a:buChar char="•"/>
            </a:pPr>
            <a:r>
              <a:rPr lang="en-US" b="true" sz="3402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Case 4</a:t>
            </a:r>
            <a:r>
              <a:rPr lang="en-US" sz="34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– Language Barriers</a:t>
            </a:r>
          </a:p>
          <a:p>
            <a:pPr algn="l">
              <a:lnSpc>
                <a:spcPts val="4763"/>
              </a:lnSpc>
            </a:pPr>
          </a:p>
          <a:p>
            <a:pPr algn="l" marL="734659" indent="-367329" lvl="1">
              <a:lnSpc>
                <a:spcPts val="4763"/>
              </a:lnSpc>
              <a:buFont typeface="Arial"/>
              <a:buChar char="•"/>
            </a:pPr>
            <a:r>
              <a:rPr lang="en-US" b="true" sz="3402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Case 5</a:t>
            </a:r>
            <a:r>
              <a:rPr lang="en-US" sz="34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– Learning Outcome Gaps</a:t>
            </a:r>
          </a:p>
          <a:p>
            <a:pPr algn="l">
              <a:lnSpc>
                <a:spcPts val="4763"/>
              </a:lnSpc>
            </a:pPr>
          </a:p>
          <a:p>
            <a:pPr algn="l" marL="734659" indent="-367329" lvl="1">
              <a:lnSpc>
                <a:spcPts val="4763"/>
              </a:lnSpc>
              <a:buFont typeface="Arial"/>
              <a:buChar char="•"/>
            </a:pPr>
            <a:r>
              <a:rPr lang="en-US" b="true" sz="3402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Unified Big Data Architecture</a:t>
            </a:r>
          </a:p>
          <a:p>
            <a:pPr algn="l">
              <a:lnSpc>
                <a:spcPts val="4763"/>
              </a:lnSpc>
            </a:pPr>
          </a:p>
          <a:p>
            <a:pPr algn="l" marL="734659" indent="-367329" lvl="1">
              <a:lnSpc>
                <a:spcPts val="4763"/>
              </a:lnSpc>
              <a:buFont typeface="Arial"/>
              <a:buChar char="•"/>
            </a:pPr>
            <a:r>
              <a:rPr lang="en-US" b="true" sz="3402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ETL Workflow &amp; Data Flow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513680" y="498647"/>
            <a:ext cx="1821081" cy="1893374"/>
          </a:xfrm>
          <a:custGeom>
            <a:avLst/>
            <a:gdLst/>
            <a:ahLst/>
            <a:cxnLst/>
            <a:rect r="r" b="b" t="t" l="l"/>
            <a:pathLst>
              <a:path h="1893374" w="1821081">
                <a:moveTo>
                  <a:pt x="1821081" y="0"/>
                </a:moveTo>
                <a:lnTo>
                  <a:pt x="0" y="0"/>
                </a:lnTo>
                <a:lnTo>
                  <a:pt x="0" y="1893373"/>
                </a:lnTo>
                <a:lnTo>
                  <a:pt x="1821081" y="1893373"/>
                </a:lnTo>
                <a:lnTo>
                  <a:pt x="18210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22104"/>
            <a:ext cx="18288000" cy="12247451"/>
            <a:chOff x="0" y="0"/>
            <a:chExt cx="4816593" cy="32256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3225666"/>
            </a:xfrm>
            <a:custGeom>
              <a:avLst/>
              <a:gdLst/>
              <a:ahLst/>
              <a:cxnLst/>
              <a:rect r="r" b="b" t="t" l="l"/>
              <a:pathLst>
                <a:path h="322566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3273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12096" y="166513"/>
            <a:ext cx="14222060" cy="3812880"/>
          </a:xfrm>
          <a:custGeom>
            <a:avLst/>
            <a:gdLst/>
            <a:ahLst/>
            <a:cxnLst/>
            <a:rect r="r" b="b" t="t" l="l"/>
            <a:pathLst>
              <a:path h="3812880" w="14222060">
                <a:moveTo>
                  <a:pt x="0" y="0"/>
                </a:moveTo>
                <a:lnTo>
                  <a:pt x="14222060" y="0"/>
                </a:lnTo>
                <a:lnTo>
                  <a:pt x="14222060" y="3812880"/>
                </a:lnTo>
                <a:lnTo>
                  <a:pt x="0" y="3812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7" t="-3125" r="0" b="-312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577460" y="4074643"/>
            <a:ext cx="7880408" cy="87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44"/>
              </a:lnSpc>
              <a:spcBef>
                <a:spcPct val="0"/>
              </a:spcBef>
            </a:pPr>
            <a:r>
              <a:rPr lang="en-US" sz="51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Project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8666" y="5086350"/>
            <a:ext cx="17490667" cy="520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6328" indent="-353164" lvl="1">
              <a:lnSpc>
                <a:spcPts val="4580"/>
              </a:lnSpc>
              <a:buFont typeface="Arial"/>
              <a:buChar char="•"/>
            </a:pPr>
            <a:r>
              <a:rPr lang="en-US" b="true" sz="3271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Objective</a:t>
            </a:r>
            <a:r>
              <a:rPr lang="en-US" sz="327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Build a unified platform analyzing rural education issues using Big Data and NLP.</a:t>
            </a:r>
          </a:p>
          <a:p>
            <a:pPr algn="l">
              <a:lnSpc>
                <a:spcPts val="4580"/>
              </a:lnSpc>
            </a:pPr>
          </a:p>
          <a:p>
            <a:pPr algn="l" marL="706328" indent="-353164" lvl="1">
              <a:lnSpc>
                <a:spcPts val="4580"/>
              </a:lnSpc>
              <a:buFont typeface="Arial"/>
              <a:buChar char="•"/>
            </a:pPr>
            <a:r>
              <a:rPr lang="en-US" b="true" sz="3271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Tools &amp; Platforms</a:t>
            </a:r>
            <a:r>
              <a:rPr lang="en-US" sz="327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Databricks, PySpark, Python, Google Colab</a:t>
            </a:r>
          </a:p>
          <a:p>
            <a:pPr algn="l">
              <a:lnSpc>
                <a:spcPts val="4580"/>
              </a:lnSpc>
            </a:pPr>
          </a:p>
          <a:p>
            <a:pPr algn="l" marL="706328" indent="-353164" lvl="1">
              <a:lnSpc>
                <a:spcPts val="4580"/>
              </a:lnSpc>
              <a:buFont typeface="Arial"/>
              <a:buChar char="•"/>
            </a:pPr>
            <a:r>
              <a:rPr lang="en-US" b="true" sz="3271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Architecture</a:t>
            </a:r>
            <a:r>
              <a:rPr lang="en-US" sz="327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ETL + Multi-layer (Bronze, Silver, Gold, Platinum)</a:t>
            </a:r>
          </a:p>
          <a:p>
            <a:pPr algn="l">
              <a:lnSpc>
                <a:spcPts val="4580"/>
              </a:lnSpc>
            </a:pPr>
          </a:p>
          <a:p>
            <a:pPr algn="l" marL="706328" indent="-353164" lvl="1">
              <a:lnSpc>
                <a:spcPts val="4580"/>
              </a:lnSpc>
              <a:buFont typeface="Arial"/>
              <a:buChar char="•"/>
            </a:pPr>
            <a:r>
              <a:rPr lang="en-US" b="true" sz="3271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Big Data Methods</a:t>
            </a:r>
            <a:r>
              <a:rPr lang="en-US" sz="327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Data Cleaning, Aggregation, Feature Extracti</a:t>
            </a:r>
            <a:r>
              <a:rPr lang="en-US" sz="327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on, Predictive Modeling</a:t>
            </a:r>
          </a:p>
          <a:p>
            <a:pPr algn="l">
              <a:lnSpc>
                <a:spcPts val="484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22104"/>
            <a:ext cx="18288000" cy="12247451"/>
            <a:chOff x="0" y="0"/>
            <a:chExt cx="4816593" cy="32256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3225666"/>
            </a:xfrm>
            <a:custGeom>
              <a:avLst/>
              <a:gdLst/>
              <a:ahLst/>
              <a:cxnLst/>
              <a:rect r="r" b="b" t="t" l="l"/>
              <a:pathLst>
                <a:path h="322566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3273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-1457024" y="150480"/>
            <a:ext cx="7880408" cy="87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44"/>
              </a:lnSpc>
              <a:spcBef>
                <a:spcPct val="0"/>
              </a:spcBef>
            </a:pPr>
            <a:r>
              <a:rPr lang="en-US" sz="51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Tools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619169"/>
            <a:ext cx="18288000" cy="8698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For data ingestion, they either read from CSV files directly into pandas DataFrames or, in one case, attempt t</a:t>
            </a:r>
            <a:r>
              <a:rPr lang="en-US" sz="33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o scrape live web data using the requests library (to fetch HTML) and BeautifulSoup (to parse it). </a:t>
            </a:r>
          </a:p>
          <a:p>
            <a:pPr algn="l">
              <a:lnSpc>
                <a:spcPts val="4620"/>
              </a:lnSpc>
            </a:pP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After initial handling in pandas, the data is converted into a PySpark DataFrame, making Apache Spark the main engine for all large-scale, distributed processing. </a:t>
            </a:r>
          </a:p>
          <a:p>
            <a:pPr algn="l">
              <a:lnSpc>
                <a:spcPts val="4620"/>
              </a:lnSpc>
            </a:pP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PySpark MLlib library is used extensively for all machine learning tasks, including feature engineering (like StringIndexer)</a:t>
            </a:r>
          </a:p>
          <a:p>
            <a:pPr algn="l">
              <a:lnSpc>
                <a:spcPts val="4620"/>
              </a:lnSpc>
            </a:pP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Training/evaluating classification models like RandomForestClassifier. </a:t>
            </a:r>
          </a:p>
          <a:p>
            <a:pPr algn="l">
              <a:lnSpc>
                <a:spcPts val="4620"/>
              </a:lnSpc>
            </a:pP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Spark SQL is also used to define table schemas and run queries, while Databricks Utilities (dbutils) are used to add platform-specific features like interactive widgets.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28840" y="-127102"/>
            <a:ext cx="2659160" cy="1580791"/>
          </a:xfrm>
          <a:custGeom>
            <a:avLst/>
            <a:gdLst/>
            <a:ahLst/>
            <a:cxnLst/>
            <a:rect r="r" b="b" t="t" l="l"/>
            <a:pathLst>
              <a:path h="1580791" w="2659160">
                <a:moveTo>
                  <a:pt x="0" y="0"/>
                </a:moveTo>
                <a:lnTo>
                  <a:pt x="2659160" y="0"/>
                </a:lnTo>
                <a:lnTo>
                  <a:pt x="2659160" y="1580791"/>
                </a:lnTo>
                <a:lnTo>
                  <a:pt x="0" y="15807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9249" y="577568"/>
            <a:ext cx="10926907" cy="73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65"/>
              </a:lnSpc>
              <a:spcBef>
                <a:spcPct val="0"/>
              </a:spcBef>
            </a:pPr>
            <a:r>
              <a:rPr lang="en-US" sz="4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Case 1 – Career Guidance Analytics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0702" y="1654707"/>
            <a:ext cx="16137370" cy="8964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Goal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Analyze students’ academic interests and aptitude for career alignment.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 Source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Synthetic (based on NCS &amp; Skill India Portal)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ETL Steps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Referred and generated in google colab → PySpark Transform → Delta Load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 Extraction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Interest Index, Skill Level, Parental Influence</a:t>
            </a: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Transformations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Encoding interests, removing nulls, mapping skills to jobs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Big Data Layers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Silver (cleaned), Gold (aggregated), Platinum (NLP chatbot)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Output: 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Top 10 Career Trends Dashboard + Recommendation Chatbot</a:t>
            </a:r>
          </a:p>
          <a:p>
            <a:pPr algn="l">
              <a:lnSpc>
                <a:spcPts val="459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63830" y="0"/>
            <a:ext cx="3224170" cy="1916672"/>
          </a:xfrm>
          <a:custGeom>
            <a:avLst/>
            <a:gdLst/>
            <a:ahLst/>
            <a:cxnLst/>
            <a:rect r="r" b="b" t="t" l="l"/>
            <a:pathLst>
              <a:path h="1916672" w="3224170">
                <a:moveTo>
                  <a:pt x="0" y="0"/>
                </a:moveTo>
                <a:lnTo>
                  <a:pt x="3224170" y="0"/>
                </a:lnTo>
                <a:lnTo>
                  <a:pt x="3224170" y="1916672"/>
                </a:lnTo>
                <a:lnTo>
                  <a:pt x="0" y="1916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1555" y="616996"/>
            <a:ext cx="10926907" cy="73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65"/>
              </a:lnSpc>
              <a:spcBef>
                <a:spcPct val="0"/>
              </a:spcBef>
            </a:pPr>
            <a:r>
              <a:rPr lang="en-US" sz="4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Case 2 – School Dropouts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40477" y="1849997"/>
            <a:ext cx="15066596" cy="785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4"/>
              </a:lnSpc>
            </a:pP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1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Goal:</a:t>
            </a: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Identify dropout patterns using socio-economic and academic data.</a:t>
            </a:r>
          </a:p>
          <a:p>
            <a:pPr algn="l">
              <a:lnSpc>
                <a:spcPts val="4454"/>
              </a:lnSpc>
            </a:pPr>
          </a:p>
          <a:p>
            <a:pPr algn="l">
              <a:lnSpc>
                <a:spcPts val="4454"/>
              </a:lnSpc>
            </a:pP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1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 Source</a:t>
            </a: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UDISE+ and synthetic demographics (1 lakh records od students data from 2014-2024)</a:t>
            </a:r>
          </a:p>
          <a:p>
            <a:pPr algn="l">
              <a:lnSpc>
                <a:spcPts val="4454"/>
              </a:lnSpc>
            </a:pPr>
          </a:p>
          <a:p>
            <a:pPr algn="l">
              <a:lnSpc>
                <a:spcPts val="4454"/>
              </a:lnSpc>
            </a:pP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1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ETL</a:t>
            </a: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PySpark DataFrame → Cleaning → Categorization → Load to Delta</a:t>
            </a:r>
          </a:p>
          <a:p>
            <a:pPr algn="l">
              <a:lnSpc>
                <a:spcPts val="4454"/>
              </a:lnSpc>
            </a:pPr>
          </a:p>
          <a:p>
            <a:pPr algn="l">
              <a:lnSpc>
                <a:spcPts val="4454"/>
              </a:lnSpc>
            </a:pP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1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 Extraction</a:t>
            </a: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Attendance %, Family Income Bracket, School Type</a:t>
            </a:r>
          </a:p>
          <a:p>
            <a:pPr algn="l">
              <a:lnSpc>
                <a:spcPts val="4454"/>
              </a:lnSpc>
            </a:pP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</a:p>
          <a:p>
            <a:pPr algn="l">
              <a:lnSpc>
                <a:spcPts val="4454"/>
              </a:lnSpc>
            </a:pP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1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Transformations:</a:t>
            </a: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Normalization, outlier removal, classification encoding</a:t>
            </a:r>
          </a:p>
          <a:p>
            <a:pPr algn="l">
              <a:lnSpc>
                <a:spcPts val="4454"/>
              </a:lnSpc>
            </a:pPr>
          </a:p>
          <a:p>
            <a:pPr algn="l">
              <a:lnSpc>
                <a:spcPts val="4454"/>
              </a:lnSpc>
            </a:pP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1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Big Data Layers</a:t>
            </a: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Gold (Dropout prediction ML model), Platinum (Heatmaps)</a:t>
            </a:r>
          </a:p>
          <a:p>
            <a:pPr algn="l">
              <a:lnSpc>
                <a:spcPts val="4454"/>
              </a:lnSpc>
            </a:pPr>
          </a:p>
          <a:p>
            <a:pPr algn="l">
              <a:lnSpc>
                <a:spcPts val="4454"/>
              </a:lnSpc>
              <a:spcBef>
                <a:spcPct val="0"/>
              </a:spcBef>
            </a:pP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b="true" sz="3181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Output:</a:t>
            </a: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1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Predictive model for dropout risk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63830" y="0"/>
            <a:ext cx="3224170" cy="1916672"/>
          </a:xfrm>
          <a:custGeom>
            <a:avLst/>
            <a:gdLst/>
            <a:ahLst/>
            <a:cxnLst/>
            <a:rect r="r" b="b" t="t" l="l"/>
            <a:pathLst>
              <a:path h="1916672" w="3224170">
                <a:moveTo>
                  <a:pt x="0" y="0"/>
                </a:moveTo>
                <a:lnTo>
                  <a:pt x="3224170" y="0"/>
                </a:lnTo>
                <a:lnTo>
                  <a:pt x="3224170" y="1916672"/>
                </a:lnTo>
                <a:lnTo>
                  <a:pt x="0" y="1916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6829" y="546632"/>
            <a:ext cx="10926907" cy="73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65"/>
              </a:lnSpc>
              <a:spcBef>
                <a:spcPct val="0"/>
              </a:spcBef>
            </a:pPr>
            <a:r>
              <a:rPr lang="en-US" sz="4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Case 3 – Scholarship Awareness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9319" y="1521238"/>
            <a:ext cx="15066596" cy="899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Goal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Bridge scholarship awareness and eligibility gaps.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 Source: NSP, State Portals, and Grok-generated data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ETL: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Web scraping (BeautifulSoup) → PySpark → Delta Storage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 Extraction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Eligibility Criteria, Caste, Income Group, Gender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ransformations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Text cleaning, filtering, structuring by type/state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Big Data Layers: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Silver (eligibility table), Gold (distribution map), Platinum (NLP Q&amp;A)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Output: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S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cholarship Recommendation based on input detail</a:t>
            </a:r>
          </a:p>
          <a:p>
            <a:pPr algn="l">
              <a:lnSpc>
                <a:spcPts val="487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63830" y="0"/>
            <a:ext cx="3224170" cy="1916672"/>
          </a:xfrm>
          <a:custGeom>
            <a:avLst/>
            <a:gdLst/>
            <a:ahLst/>
            <a:cxnLst/>
            <a:rect r="r" b="b" t="t" l="l"/>
            <a:pathLst>
              <a:path h="1916672" w="3224170">
                <a:moveTo>
                  <a:pt x="0" y="0"/>
                </a:moveTo>
                <a:lnTo>
                  <a:pt x="3224170" y="0"/>
                </a:lnTo>
                <a:lnTo>
                  <a:pt x="3224170" y="1916672"/>
                </a:lnTo>
                <a:lnTo>
                  <a:pt x="0" y="1916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477288" y="546632"/>
            <a:ext cx="10926907" cy="73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65"/>
              </a:lnSpc>
              <a:spcBef>
                <a:spcPct val="0"/>
              </a:spcBef>
            </a:pPr>
            <a:r>
              <a:rPr lang="en-US" sz="4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Case 4 – Language Barriers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3993" y="1849997"/>
            <a:ext cx="16252095" cy="836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Goal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Analyze language’s effect on learning outcomes.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 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Source: N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CERT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&amp;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t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te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d 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ro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fici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cy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data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sets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ETL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Load CSV → NLP normalization → Spark Processing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 Extraction: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Language Code, Subject Performance, Region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Transformations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Text normalization, encoding, correlation mapping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Big Data Layers: 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Gold (performance correlation), Platinum (sentiment analysis)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Output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C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omparison of native vs non-native language performance</a:t>
            </a:r>
          </a:p>
          <a:p>
            <a:pPr algn="l">
              <a:lnSpc>
                <a:spcPts val="459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63830" y="0"/>
            <a:ext cx="3224170" cy="1916672"/>
          </a:xfrm>
          <a:custGeom>
            <a:avLst/>
            <a:gdLst/>
            <a:ahLst/>
            <a:cxnLst/>
            <a:rect r="r" b="b" t="t" l="l"/>
            <a:pathLst>
              <a:path h="1916672" w="3224170">
                <a:moveTo>
                  <a:pt x="0" y="0"/>
                </a:moveTo>
                <a:lnTo>
                  <a:pt x="3224170" y="0"/>
                </a:lnTo>
                <a:lnTo>
                  <a:pt x="3224170" y="1916672"/>
                </a:lnTo>
                <a:lnTo>
                  <a:pt x="0" y="1916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093" y="546632"/>
            <a:ext cx="10926907" cy="73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65"/>
              </a:lnSpc>
              <a:spcBef>
                <a:spcPct val="0"/>
              </a:spcBef>
            </a:pPr>
            <a:r>
              <a:rPr lang="en-US" sz="4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Case 5 – Learning Outcome Gaps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3993" y="1476549"/>
            <a:ext cx="15066596" cy="778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Goal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Detect learning gaps using test and attendance metrics.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 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Source: AS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ER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+ UDISE+ + syn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thetic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data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ETL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Ingest unified dataset → Transform scores → Delta load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 Extraction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 Learning Index, Subject Score, Attendance Ratio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Transformations: 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Standardization, KPI derivation, missing value handling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sz="3381" b="true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Big Data Layers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Gold (KPI results), Platinum (visual dashboards)</a:t>
            </a:r>
          </a:p>
          <a:p>
            <a:pPr algn="l">
              <a:lnSpc>
                <a:spcPts val="4734"/>
              </a:lnSpc>
            </a:pPr>
          </a:p>
          <a:p>
            <a:pPr algn="l">
              <a:lnSpc>
                <a:spcPts val="4734"/>
              </a:lnSpc>
              <a:spcBef>
                <a:spcPct val="0"/>
              </a:spcBef>
            </a:pP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b="true" sz="3381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Output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: KPI dashb</a:t>
            </a:r>
            <a:r>
              <a:rPr lang="en-US" sz="3381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oards for subject-wise learning gap insights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2410" y="436450"/>
            <a:ext cx="952579" cy="914476"/>
          </a:xfrm>
          <a:custGeom>
            <a:avLst/>
            <a:gdLst/>
            <a:ahLst/>
            <a:cxnLst/>
            <a:rect r="r" b="b" t="t" l="l"/>
            <a:pathLst>
              <a:path h="914476" w="952579">
                <a:moveTo>
                  <a:pt x="0" y="0"/>
                </a:moveTo>
                <a:lnTo>
                  <a:pt x="952580" y="0"/>
                </a:lnTo>
                <a:lnTo>
                  <a:pt x="952580" y="914476"/>
                </a:lnTo>
                <a:lnTo>
                  <a:pt x="0" y="9144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56466" y="1785441"/>
            <a:ext cx="12775068" cy="6716118"/>
          </a:xfrm>
          <a:custGeom>
            <a:avLst/>
            <a:gdLst/>
            <a:ahLst/>
            <a:cxnLst/>
            <a:rect r="r" b="b" t="t" l="l"/>
            <a:pathLst>
              <a:path h="6716118" w="12775068">
                <a:moveTo>
                  <a:pt x="0" y="0"/>
                </a:moveTo>
                <a:lnTo>
                  <a:pt x="12775068" y="0"/>
                </a:lnTo>
                <a:lnTo>
                  <a:pt x="12775068" y="6716118"/>
                </a:lnTo>
                <a:lnTo>
                  <a:pt x="0" y="6716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6" t="0" r="-28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26027" y="554448"/>
            <a:ext cx="9621270" cy="85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45"/>
              </a:lnSpc>
              <a:spcBef>
                <a:spcPct val="0"/>
              </a:spcBef>
            </a:pPr>
            <a:r>
              <a:rPr lang="en-US" sz="50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Unified Big Data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2410" y="514686"/>
            <a:ext cx="952579" cy="914476"/>
          </a:xfrm>
          <a:custGeom>
            <a:avLst/>
            <a:gdLst/>
            <a:ahLst/>
            <a:cxnLst/>
            <a:rect r="r" b="b" t="t" l="l"/>
            <a:pathLst>
              <a:path h="914476" w="952579">
                <a:moveTo>
                  <a:pt x="0" y="0"/>
                </a:moveTo>
                <a:lnTo>
                  <a:pt x="952580" y="0"/>
                </a:lnTo>
                <a:lnTo>
                  <a:pt x="952580" y="914476"/>
                </a:lnTo>
                <a:lnTo>
                  <a:pt x="0" y="9144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50266" y="3001409"/>
            <a:ext cx="13328565" cy="4284182"/>
          </a:xfrm>
          <a:custGeom>
            <a:avLst/>
            <a:gdLst/>
            <a:ahLst/>
            <a:cxnLst/>
            <a:rect r="r" b="b" t="t" l="l"/>
            <a:pathLst>
              <a:path h="4284182" w="13328565">
                <a:moveTo>
                  <a:pt x="0" y="0"/>
                </a:moveTo>
                <a:lnTo>
                  <a:pt x="13328565" y="0"/>
                </a:lnTo>
                <a:lnTo>
                  <a:pt x="13328565" y="4284182"/>
                </a:lnTo>
                <a:lnTo>
                  <a:pt x="0" y="42841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04990" y="1333912"/>
            <a:ext cx="9621270" cy="85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45"/>
              </a:lnSpc>
              <a:spcBef>
                <a:spcPct val="0"/>
              </a:spcBef>
            </a:pPr>
            <a:r>
              <a:rPr lang="en-US" sz="50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ETL Workflow &amp; Data Flow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775654" y="5143500"/>
            <a:ext cx="9448343" cy="5616757"/>
          </a:xfrm>
          <a:custGeom>
            <a:avLst/>
            <a:gdLst/>
            <a:ahLst/>
            <a:cxnLst/>
            <a:rect r="r" b="b" t="t" l="l"/>
            <a:pathLst>
              <a:path h="5616757" w="9448343">
                <a:moveTo>
                  <a:pt x="0" y="0"/>
                </a:moveTo>
                <a:lnTo>
                  <a:pt x="9448342" y="0"/>
                </a:lnTo>
                <a:lnTo>
                  <a:pt x="9448342" y="5616757"/>
                </a:lnTo>
                <a:lnTo>
                  <a:pt x="0" y="56167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00634" y="5428244"/>
            <a:ext cx="8436357" cy="5844796"/>
          </a:xfrm>
          <a:custGeom>
            <a:avLst/>
            <a:gdLst/>
            <a:ahLst/>
            <a:cxnLst/>
            <a:rect r="r" b="b" t="t" l="l"/>
            <a:pathLst>
              <a:path h="5844796" w="8436357">
                <a:moveTo>
                  <a:pt x="0" y="0"/>
                </a:moveTo>
                <a:lnTo>
                  <a:pt x="8436357" y="0"/>
                </a:lnTo>
                <a:lnTo>
                  <a:pt x="8436357" y="5844796"/>
                </a:lnTo>
                <a:lnTo>
                  <a:pt x="0" y="58447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83456" y="2365012"/>
            <a:ext cx="13321088" cy="365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97"/>
              </a:lnSpc>
            </a:pPr>
            <a:r>
              <a:rPr lang="en-US" sz="10569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Thank's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DAG4dRI2WUM</dc:identifier>
  <dcterms:modified xsi:type="dcterms:W3CDTF">2011-08-01T06:04:30Z</dcterms:modified>
  <cp:revision>1</cp:revision>
  <dc:title>White Illustrative Creative Literature Project Presentation</dc:title>
</cp:coreProperties>
</file>